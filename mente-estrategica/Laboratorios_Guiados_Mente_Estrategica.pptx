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material no sustituye la PPT teórica. Úsala primero y abre este archivo para ejecutar los laboratorios con los participantes.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recomendada: 95 minutos para Microsoft y 50 para Slack. Si solo existe una sesión corta, hacer Slack como demostración del facilitador.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sistema clínico de traslados. Es una actividad con datos completamente inventados: no se registran pacientes, camas ni indicaciones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sitio de SharePoint de prácticas. Tener listo Base_Traslados_Mente_Estrategica.xlsx y los prompts. Confirmar permisos de creación de 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entrar al sitio de SharePoint. Click 2: Nuevo → Lista. Click 3: Lista en blanco. Click 4: nombrarla. Recomienda que solo un equipo cree la lista si hay pocos permisos.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Demuestra que las opciones se configuran una sola vez y que reduce errores de digitación. Campos de elección obligatorios.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SharePoint habilitar incluir hora para ambas. FechaCierre no es requerida globalmente. Cuando el estado sea Cerrado se debe completar de forma operativa; la obligatoriedad condicionada es un desarrollo más avanzado.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solicitudes manuales; copiar el texto de la hoja de ejemplo sin omitir horarios. Registrar FechaCierre solo para TR-003. Conservar TR-001 como Creado hasta la última prueba del flujo.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documenta pegar múltiples filas desde Excel en Editar en vista de cuadrícula. Si falla por regionalización de fechas, verificar formato o hacer importación desde Excel en una lista nueva como plan B (nunca duplicar registros en la lista actual).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guardar vista pública/personal según permiso. Si no pueden agrupar, guardar al menos filtro Pendientes y vista estándar. Explicar que una vista no duplica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primero una exportación. Puede descargar query.iqy; abrir Excel y habilitar conexión solo si confían en el sitio. La consulta es de SharePoint hacia Excel, no viceversa. Si la organización bloquea IQY, mostrar alternativa Datos→Obtener datos→SharePoint Online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del archivo BASE antes de cambios: Creado 6, Asignado 11, Cerrado 15; porcentaje cerrado = 46,875 %. No enseñar números como resultado final tras editar el estado. Los gráficos provienen del libro exportado.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Copiar literalmente Prompt 1 desde Prompts_Listos_para_Copiar.md. Si no hay acceso a IA, mostrar la hoja 03_GRAFICOS del Excel. El HTML pedido debe permitir cargar CSV para simular actualización local, no conectarse a SharePoint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Aclaración: para que no dispare de nuevo al editar otro campo de un registro ya Asignado, usar Get changes for an item or file (properties only) y condicionar Has Column Changed: Estado, además de Estado=Asignado. Requiere historial de versiones.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se genera más de un correo por ejecuciones reintentadas, el patrón plenamente idempotente requiere marca adicional de envío y control de concurrencia; fuera de alcance del taller. Verificar el cambio mediante Get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Necesita plan de Slack y acceso a Slackbot. El formato CSV es la vía documentada de importación de listas; Slackbot documenta leer CSV y TXT. No prometer ingestión XLSX directa.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Copiar el PROMPT 3 íntegro desde el archivo de prompts; adjuntar CSV. No inventar permiso de escritura de Slackbot. Algunas acciones exigen aprobación. Si los tipos de fecha/hora no están disponibles, preservarlos como texto sin pérdida de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Sugerir que la lista no asigne Equipo A/B/C como usuarios Slack inexistentes; usar un campo textual o de selección en vez de la columna Assignee del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PROMPT 4 completo con la URL real de Slack List. Slackbot permite superficies interactivas; la documentación confirma que no refrescan automáticamente a octubre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PROMPT 5. Si el equipo ya actualizó TR-001 en Microsoft, explicar que Slack NO se sincroniza solo con esa lista. En Slack es una simulación de la misma estructura y no debe asumirse integración.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Reforzar que el archivo Excel es una base de carga y análisis; compartir el caso sintético, nunca datos sensibles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 oficiales: Microsoft Lists crear listas y editar en cuadrícula; Microsoft exportar a Excel; Power Automate SharePoint connector; Slack usar listas y superficies.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30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FFC9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MENTE ESTRATÉGICA · PARTE PRÁCTICA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una lista a una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85800" y="3438144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BE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laboratorios guiados con el mismo caso: solicitudes de traslado interno.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846320"/>
            <a:ext cx="2528316" cy="960120"/>
          </a:xfrm>
          <a:prstGeom prst="roundRect">
            <a:avLst>
              <a:gd name="adj" fmla="val 15238"/>
            </a:avLst>
          </a:prstGeom>
          <a:solidFill>
            <a:srgbClr val="F6F8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5001768"/>
            <a:ext cx="2235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321808"/>
            <a:ext cx="2345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y vistas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14116" y="510235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424428" y="4846320"/>
            <a:ext cx="2528316" cy="960120"/>
          </a:xfrm>
          <a:prstGeom prst="roundRect">
            <a:avLst>
              <a:gd name="adj" fmla="val 15238"/>
            </a:avLst>
          </a:prstGeom>
          <a:solidFill>
            <a:srgbClr val="F6F8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0732" y="5001768"/>
            <a:ext cx="2235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+ HTML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15868" y="5321808"/>
            <a:ext cx="2345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52744" y="510235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163056" y="4846320"/>
            <a:ext cx="2528316" cy="960120"/>
          </a:xfrm>
          <a:prstGeom prst="roundRect">
            <a:avLst>
              <a:gd name="adj" fmla="val 15238"/>
            </a:avLst>
          </a:prstGeom>
          <a:solidFill>
            <a:srgbClr val="F6F8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5001768"/>
            <a:ext cx="2235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Automate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54496" y="5321808"/>
            <a:ext cx="2345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91372" y="510235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901684" y="4846320"/>
            <a:ext cx="2528316" cy="960120"/>
          </a:xfrm>
          <a:prstGeom prst="roundRect">
            <a:avLst>
              <a:gd name="adj" fmla="val 15238"/>
            </a:avLst>
          </a:prstGeom>
          <a:solidFill>
            <a:srgbClr val="F6F8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7988" y="5001768"/>
            <a:ext cx="2235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Slackbot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93124" y="5321808"/>
            <a:ext cx="2345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y panel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64739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EDB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para proyectar · continúa después de la PPT teórica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PRÁCTICA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de los dos laboratorios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termina con una lista creada, datos visibles y una notificación probada.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221992"/>
            <a:ext cx="534924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221992"/>
            <a:ext cx="5349240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386584"/>
            <a:ext cx="457200" cy="329184"/>
          </a:xfrm>
          <a:prstGeom prst="roundRect">
            <a:avLst>
              <a:gd name="adj" fmla="val 44444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277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 MIN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276148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1 · Microsoft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9808" y="3282696"/>
            <a:ext cx="49103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en SharePoint → Excel actualizado → gráfico / HTML → flujo de correo.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80760" y="2221992"/>
            <a:ext cx="557784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221992"/>
            <a:ext cx="5577840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386584"/>
            <a:ext cx="457200" cy="329184"/>
          </a:xfrm>
          <a:prstGeom prst="roundRect">
            <a:avLst>
              <a:gd name="adj" fmla="val 44444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4277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0216" y="2761488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2 · Slack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0216" y="3282696"/>
            <a:ext cx="5138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del mismo caso → lista en canal → vistas → superficie de Slackbot.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0352" y="4828032"/>
            <a:ext cx="11119104" cy="685800"/>
          </a:xfrm>
          <a:prstGeom prst="roundRect">
            <a:avLst>
              <a:gd name="adj" fmla="val 21333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919472"/>
            <a:ext cx="10661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PPT teórica ya está preparada: aquí solo se muestran los clics y las pruebas.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Nuestro caso: solicitudes de traslado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proceso muy sencillo, suficiente para aprender estados, responsables y trazabilidad.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3563112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37744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registra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1752" y="2478024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322064" y="2221992"/>
            <a:ext cx="3563112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8368" y="237744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13504" y="2697480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equipo lo gestiona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85176" y="2478024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95488" y="2221992"/>
            <a:ext cx="3563112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1792" y="237744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86928" y="2697480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completa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12464"/>
            <a:ext cx="5230368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12464"/>
            <a:ext cx="5230368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968496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ejemplo concreto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8096" y="453542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TR-001 · Urgencias a Hospitalización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Prioridad: Alta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Responsable: Sin asignar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71032" y="3712464"/>
            <a:ext cx="5687568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71032" y="3712464"/>
            <a:ext cx="5687568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3968496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queremos responder?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190488" y="4535424"/>
            <a:ext cx="5248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¿Cuántas solicitudes hay?, ¿en qué estado están?, ¿quién debe actuar?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1 · MICROSOFT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1: la ruta de Microsoft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Vamos a construirla en vivo; cada participante reproduce los pasos.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423160"/>
            <a:ext cx="2053742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78608"/>
            <a:ext cx="17611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Lista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2898648"/>
            <a:ext cx="1870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4094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2794406" y="2423160"/>
            <a:ext cx="2053742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0710" y="2578608"/>
            <a:ext cx="17611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Vistas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5846" y="2898648"/>
            <a:ext cx="1870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y pendientes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8149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058461" y="2423160"/>
            <a:ext cx="2053742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4765" y="2578608"/>
            <a:ext cx="17611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Datos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49901" y="2898648"/>
            <a:ext cx="1870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exportado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2203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322515" y="2423160"/>
            <a:ext cx="2053742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8819" y="2578608"/>
            <a:ext cx="17611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Análisis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13955" y="2898648"/>
            <a:ext cx="1870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/ HTML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76258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586570" y="2423160"/>
            <a:ext cx="2053742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2874" y="2578608"/>
            <a:ext cx="17611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Acción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78010" y="2898648"/>
            <a:ext cx="1870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automático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2688" y="4288536"/>
            <a:ext cx="10314432" cy="877824"/>
          </a:xfrm>
          <a:prstGeom prst="roundRect">
            <a:avLst>
              <a:gd name="adj" fmla="val 16667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1288" y="4379976"/>
            <a:ext cx="98572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Ejercicio: 4 registros manuales + 28 desde Excel = 32 solicitudes en la lista.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SHAREPOINT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 · Crear una lista vacía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importes el Excel todavía: la idea es entender cómo se estructura una fuente.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267712"/>
            <a:ext cx="262432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4231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27432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Sitio de prácticas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523744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364992" y="2267712"/>
            <a:ext cx="262432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24231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6432" y="27432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Lista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2523744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99632" y="2267712"/>
            <a:ext cx="262432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24231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en blanco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1072" y="27432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desde Excel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2523744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034272" y="2267712"/>
            <a:ext cx="262432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0576" y="24231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25712" y="27432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Solicitudes de traslado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858768"/>
            <a:ext cx="5349240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858768"/>
            <a:ext cx="5349240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114800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sugerido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9808" y="4681728"/>
            <a:ext cx="4910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Solicitudes de traslado – Grupo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 identifica la lista con tu equipo).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80760" y="3858768"/>
            <a:ext cx="5577840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3858768"/>
            <a:ext cx="5577840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411480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estamos aprendiendo?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300216" y="4681728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cada columna es un dato estructurado que luego podremos filtrar y medir.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CAMPOS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2A · Los primeros cuatro campos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Renombra la columna «Título» como «Solicitud» y crea tres columnas de Elección.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110996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12848"/>
            <a:ext cx="2103120" cy="685800"/>
          </a:xfrm>
          <a:prstGeom prst="rect">
            <a:avLst/>
          </a:prstGeom>
          <a:solidFill>
            <a:srgbClr val="182D5F"/>
          </a:solidFill>
          <a:ln w="12700">
            <a:solidFill>
              <a:srgbClr val="182D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13432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212848"/>
            <a:ext cx="1783080" cy="685800"/>
          </a:xfrm>
          <a:prstGeom prst="rect">
            <a:avLst/>
          </a:prstGeom>
          <a:solidFill>
            <a:srgbClr val="182D5F"/>
          </a:solidFill>
          <a:ln w="12700">
            <a:solidFill>
              <a:srgbClr val="182D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2313432"/>
            <a:ext cx="1545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2212848"/>
            <a:ext cx="7223760" cy="685800"/>
          </a:xfrm>
          <a:prstGeom prst="rect">
            <a:avLst/>
          </a:prstGeom>
          <a:solidFill>
            <a:srgbClr val="182D5F"/>
          </a:solidFill>
          <a:ln w="12700">
            <a:solidFill>
              <a:srgbClr val="182D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313432"/>
            <a:ext cx="6986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/ opciones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" y="29992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70632" y="2999232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53712" y="2999232"/>
            <a:ext cx="6986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Obligatorio · Renombrar Título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584448"/>
            <a:ext cx="111099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6850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70632" y="3685032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53712" y="3685032"/>
            <a:ext cx="6986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Urgencias · Hospitalización · UCI · Quirófano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" y="43708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70632" y="4370832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53712" y="4370832"/>
            <a:ext cx="6986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Hospitalización · UCI · Imágenes · Quirófano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956048"/>
            <a:ext cx="111099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566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70632" y="5056632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Elección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53712" y="5056632"/>
            <a:ext cx="6986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· Media · Baja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5678424"/>
            <a:ext cx="11100816" cy="530352"/>
          </a:xfrm>
          <a:prstGeom prst="roundRect">
            <a:avLst>
              <a:gd name="adj" fmla="val 27586"/>
            </a:avLst>
          </a:prstGeom>
          <a:solidFill>
            <a:srgbClr val="ECF8F0"/>
          </a:solidFill>
          <a:ln w="10160">
            <a:solidFill>
              <a:srgbClr val="ECF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769864"/>
            <a:ext cx="10643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evita 5 formas distintas de escribir «Urgencias».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VALIDACIONES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2B · Estado, equipo y tiempos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columna de estado permite crear vistas; las fechas con hora permiten medir demoras.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11100816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21992"/>
            <a:ext cx="2304288" cy="676656"/>
          </a:xfrm>
          <a:prstGeom prst="rect">
            <a:avLst/>
          </a:prstGeom>
          <a:solidFill>
            <a:srgbClr val="182D5F"/>
          </a:solidFill>
          <a:ln w="12700">
            <a:solidFill>
              <a:srgbClr val="182D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22576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2852928" y="2221992"/>
            <a:ext cx="2057400" cy="676656"/>
          </a:xfrm>
          <a:prstGeom prst="rect">
            <a:avLst/>
          </a:prstGeom>
          <a:solidFill>
            <a:srgbClr val="182D5F"/>
          </a:solidFill>
          <a:ln w="12700">
            <a:solidFill>
              <a:srgbClr val="182D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322576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4910328" y="2221992"/>
            <a:ext cx="6739128" cy="676656"/>
          </a:xfrm>
          <a:prstGeom prst="rect">
            <a:avLst/>
          </a:prstGeom>
          <a:solidFill>
            <a:srgbClr val="182D5F"/>
          </a:solidFill>
          <a:ln w="12700">
            <a:solidFill>
              <a:srgbClr val="182D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22576"/>
            <a:ext cx="6501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para el laboratorio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667512" y="2999232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530" dirty="0"/>
          </a:p>
        </p:txBody>
      </p:sp>
      <p:sp>
        <p:nvSpPr>
          <p:cNvPr id="18" name="Text 16"/>
          <p:cNvSpPr/>
          <p:nvPr/>
        </p:nvSpPr>
        <p:spPr>
          <a:xfrm>
            <a:off x="2971800" y="2999232"/>
            <a:ext cx="1819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Elección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5029200" y="2999232"/>
            <a:ext cx="65013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Creado · Asignado · Cerrado · Obligatorio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548640" y="3575304"/>
            <a:ext cx="11100816" cy="67665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675888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2971800" y="3675888"/>
            <a:ext cx="1819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Elección</a:t>
            </a:r>
            <a:endParaRPr lang="en-US" sz="1530" dirty="0"/>
          </a:p>
        </p:txBody>
      </p:sp>
      <p:sp>
        <p:nvSpPr>
          <p:cNvPr id="23" name="Text 21"/>
          <p:cNvSpPr/>
          <p:nvPr/>
        </p:nvSpPr>
        <p:spPr>
          <a:xfrm>
            <a:off x="5029200" y="3675888"/>
            <a:ext cx="65013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asignar · Equipo A/B/C · Obligatorio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67512" y="4352544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FechaSolicitud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2971800" y="4352544"/>
            <a:ext cx="1819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y hora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5029200" y="4352544"/>
            <a:ext cx="65013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hora · Obligatorio</a:t>
            </a:r>
            <a:endParaRPr lang="en-US" sz="1530" dirty="0"/>
          </a:p>
        </p:txBody>
      </p:sp>
      <p:sp>
        <p:nvSpPr>
          <p:cNvPr id="27" name="Shape 25"/>
          <p:cNvSpPr/>
          <p:nvPr/>
        </p:nvSpPr>
        <p:spPr>
          <a:xfrm>
            <a:off x="548640" y="4928616"/>
            <a:ext cx="11100816" cy="67665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29200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FechaCierre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2971800" y="5029200"/>
            <a:ext cx="1819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y hora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5029200" y="5029200"/>
            <a:ext cx="65013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hora · Opcional</a:t>
            </a:r>
            <a:endParaRPr lang="en-US" sz="153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100816" cy="557784"/>
          </a:xfrm>
          <a:prstGeom prst="roundRect">
            <a:avLst>
              <a:gd name="adj" fmla="val 26230"/>
            </a:avLst>
          </a:prstGeom>
          <a:solidFill>
            <a:srgbClr val="FFF7E3"/>
          </a:solidFill>
          <a:ln w="10160">
            <a:solidFill>
              <a:srgbClr val="FFF7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760720"/>
            <a:ext cx="10643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fecha de cierre es opcional porque las solicitudes abiertas todavía no tienen cierre.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CAPTURA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 · Registramos 4 solicitudes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 el formulario «Nuevo» con las primeras cuatro filas del archivo de ejemplo.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548640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21992"/>
            <a:ext cx="5486400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478024"/>
            <a:ext cx="5047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hacer ahora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3044952"/>
            <a:ext cx="50474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01_BASE_32 · Crear TR-001, TR-002, TR-003 y TR-004 · Guardar cada caso.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6208" y="2221992"/>
            <a:ext cx="539496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2221992"/>
            <a:ext cx="5394960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478024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55664" y="3044952"/>
            <a:ext cx="49560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TR-001 debe continuar en Creado y con Responsable = Sin asignar. Lo usaremos para probar el correo.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654296"/>
            <a:ext cx="3425952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809744"/>
            <a:ext cx="3133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512978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formulario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3192" y="4910328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413504" y="4654296"/>
            <a:ext cx="3425952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9808" y="4809744"/>
            <a:ext cx="3133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04944" y="512978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campos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39456" y="4910328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049768" y="4654296"/>
            <a:ext cx="3425952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6072" y="4809744"/>
            <a:ext cx="3133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41208" y="512978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registro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CARGA MASIVA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4 · Ahora sí: cargamos los otros 28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Aprovechamos Excel para no pasar 20 minutos escribiendo cada registro.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313432"/>
            <a:ext cx="3364992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50592"/>
            <a:ext cx="310896" cy="310896"/>
          </a:xfrm>
          <a:prstGeom prst="ellipse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734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" y="24323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Excel: hoja 02_PEGAR_28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05656" y="2313432"/>
            <a:ext cx="3383280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3672" y="2450592"/>
            <a:ext cx="310896" cy="310896"/>
          </a:xfrm>
          <a:prstGeom prst="ellipse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24734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2432304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Copiar solo las 28 filas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08392" y="2313432"/>
            <a:ext cx="3895344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36408" y="2450592"/>
            <a:ext cx="310896" cy="310896"/>
          </a:xfrm>
          <a:prstGeom prst="ellipse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4734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38744" y="2432304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en cuadrícula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273552"/>
            <a:ext cx="11100816" cy="142646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" y="34747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IMPORTANTE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2104" y="3867912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 el orden de las 8 columnas en SharePoint con el Excel; pega desde la primera fila vacía; revisa fechas antes de guardar.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148072"/>
            <a:ext cx="11100816" cy="658368"/>
          </a:xfrm>
          <a:prstGeom prst="roundRect">
            <a:avLst>
              <a:gd name="adj" fmla="val 22222"/>
            </a:avLst>
          </a:prstGeom>
          <a:solidFill>
            <a:srgbClr val="FFF7E3"/>
          </a:solidFill>
          <a:ln w="10160">
            <a:solidFill>
              <a:srgbClr val="FFF7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39512"/>
            <a:ext cx="10643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pegues la hoja de 32 filas: las primeras 4 ya fueron creadas manualmente.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VISTAS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5 · Crear vistas que sirvan para gestionar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misma lista: dos maneras de trabajar sin copiar los datos.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" y="2249424"/>
            <a:ext cx="5376672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" y="2249424"/>
            <a:ext cx="5376672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5054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1 · Por estado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952" y="3072384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vista de tipo Tabla y agrupar por Estado: Creado, Asignado y Cerrado.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249424"/>
            <a:ext cx="553212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249424"/>
            <a:ext cx="5532120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505456"/>
            <a:ext cx="5093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2 · Pendientes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45936" y="3072384"/>
            <a:ext cx="50932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otra vista con el filtro Estado «no es igual a» Cerrado. Ordenar por FechaSolicitud.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4984" y="4882896"/>
            <a:ext cx="10058400" cy="621792"/>
          </a:xfrm>
          <a:prstGeom prst="roundRect">
            <a:avLst>
              <a:gd name="adj" fmla="val 23529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501091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grupo: ¿qué vista abrirías en una reunión de seguimiento de 5 minutos?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EXCEL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6 · Exportar a Excel y actualizar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lista sigue siendo la fuente; Excel solo consulta una copia conectada.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" y="2313432"/>
            <a:ext cx="3520440" cy="1271016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" y="2788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Exportar → Excel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05656" y="2569464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315968" y="2313432"/>
            <a:ext cx="3520440" cy="1271016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246888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escritorio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07408" y="2788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consulta .iqy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36408" y="2569464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46720" y="2313432"/>
            <a:ext cx="3520440" cy="1271016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246888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todo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2788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→ Actualizar todo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5431536" cy="153619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77640"/>
            <a:ext cx="5431536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233672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unidireccional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8096" y="4800600"/>
            <a:ext cx="49926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Cambias el estado en SharePoint → actualizas Excel → ves el cambio.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63056" y="3977640"/>
            <a:ext cx="5477256" cy="153619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3977640"/>
            <a:ext cx="5477256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233672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confundas formatos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82512" y="4800600"/>
            <a:ext cx="5038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exportado puede refrescarse; un CSV es una foto estática sin conexión.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GRÁFICOS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7 · Un gráfico que responde una pregunta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necesitamos un tablero complejo para descubrir cuántos casos siguen abiertos.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4297680" cy="3392424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4048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dinámica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68680" y="3154680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35808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Filas → Estado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3648456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529584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→ Recuento de Solicitud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4142232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023360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Insertar → Gráfico de columnas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4636008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517136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cuando cambie la fuente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0640" y="2157984"/>
            <a:ext cx="649224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4104" y="2395728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con los 32 registros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31536" y="30358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Creado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93992" y="3058668"/>
            <a:ext cx="1463040" cy="283464"/>
          </a:xfrm>
          <a:prstGeom prst="roundRect">
            <a:avLst>
              <a:gd name="adj" fmla="val 19355"/>
            </a:avLst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16768" y="3035808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31536" y="36941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Asignado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93992" y="3717036"/>
            <a:ext cx="2682240" cy="283464"/>
          </a:xfrm>
          <a:prstGeom prst="roundRect">
            <a:avLst>
              <a:gd name="adj" fmla="val 19355"/>
            </a:avLst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16768" y="369417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31536" y="43525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Cerrado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93992" y="4375404"/>
            <a:ext cx="3657600" cy="283464"/>
          </a:xfrm>
          <a:prstGeom prst="roundRect">
            <a:avLst>
              <a:gd name="adj" fmla="val 19355"/>
            </a:avLst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16768" y="435254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IA Y HTML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8 · Excel + prompt = dashboard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genera la IA a partir de un archivo; el participante comprueba el resultado.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203704"/>
            <a:ext cx="5349240" cy="2414016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203704"/>
            <a:ext cx="5349240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59736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Adjuntar Excel exportado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3026664"/>
            <a:ext cx="491032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un HTML único, sin dependencias, con tarjetas, filtros, gráficos, búsqueda y tabla.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9048" y="2203704"/>
            <a:ext cx="5559552" cy="2414016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48" y="2203704"/>
            <a:ext cx="5559552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24597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antes de mostrar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18504" y="3026664"/>
            <a:ext cx="5120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total concuerda? ¿Los estados suman el total? ¿Las fechas tienen sentido? ¿Se puede cargar CSV nuevo?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020056"/>
            <a:ext cx="11064240" cy="640080"/>
          </a:xfrm>
          <a:prstGeom prst="roundRect">
            <a:avLst>
              <a:gd name="adj" fmla="val 22857"/>
            </a:avLst>
          </a:prstGeom>
          <a:solidFill>
            <a:srgbClr val="FFF0F5"/>
          </a:solidFill>
          <a:ln w="10160">
            <a:solidFill>
              <a:srgbClr val="FFF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5111496"/>
            <a:ext cx="10607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el PROMPT 1 del documento adjunto. El HTML solo se actualiza al cargar un nuevo archivo.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POWER AUTOMATE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9 · Un estado nuevo dispara una acción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solicitud pasa de Creado a Asignado, enviamos un correo de prueba.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423160"/>
            <a:ext cx="262204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78608"/>
            <a:ext cx="2329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en lista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2898648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2394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362706" y="2423160"/>
            <a:ext cx="262204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9010" y="2578608"/>
            <a:ext cx="2329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cambio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4146" y="2898648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¿Estado cambió?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4748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95060" y="2423160"/>
            <a:ext cx="262204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1364" y="2578608"/>
            <a:ext cx="2329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6500" y="2898648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= Asignado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17102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027414" y="2423160"/>
            <a:ext cx="262204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3718" y="2578608"/>
            <a:ext cx="2329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18854" y="2898648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(V2)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4224528"/>
            <a:ext cx="5568696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224528"/>
            <a:ext cx="5568696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480560"/>
            <a:ext cx="5129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9808" y="5047488"/>
            <a:ext cx="5129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automatizado → desencadenador SharePoint «Cuando se modifica un elemento». Selecciona el sitio y la lista.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91072" y="4224528"/>
            <a:ext cx="5358384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91072" y="4224528"/>
            <a:ext cx="5358384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4480560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Precaución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10528" y="5047488"/>
            <a:ext cx="4919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uses correo masivo. Prueba con tu dirección institucional y verifica el historial del flujo.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· PRUEBA DEL FLUJO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9B · Comprobamos que funciona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demuestra el valor real de digitalizar: un cambio produce una acción.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267712"/>
            <a:ext cx="534924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267712"/>
            <a:ext cx="5349240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23744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1 · Debe enviar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3090672"/>
            <a:ext cx="4910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TR-001. Cambia Estado: Creado → Asignado y Responsable: Equipo A. Guarda y verifica el correo.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2267712"/>
            <a:ext cx="555955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267712"/>
            <a:ext cx="5559552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237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2 · No debe enviar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0216" y="3090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 solamente Prioridad o Destino del mismo registro. Si Estado NO cambió, no debe enviarse otro correo.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65776"/>
            <a:ext cx="11109960" cy="768096"/>
          </a:xfrm>
          <a:prstGeom prst="roundRect">
            <a:avLst>
              <a:gd name="adj" fmla="val 19048"/>
            </a:avLst>
          </a:prstGeom>
          <a:solidFill>
            <a:srgbClr val="FFF7E3"/>
          </a:solidFill>
          <a:ln w="10160">
            <a:solidFill>
              <a:srgbClr val="FFF7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57216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condición «Estado = Asignado» sola puede generar correos repetidos. Comprueba también «Estado ha cambiado».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MICROSOFT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Laboratorio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digitalizamos para tener una lista bonita; ahora podemos ver, medir y actuar.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3602736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5968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A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34440" y="256032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campos configurados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52544" y="2340864"/>
            <a:ext cx="3602736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5968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A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038344" y="256032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registros (4+28)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56448" y="2340864"/>
            <a:ext cx="3602736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5968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A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842248" y="256032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vistas útiles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3602736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90448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A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34440" y="3867912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actualizado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352544" y="3648456"/>
            <a:ext cx="3602736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390448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A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5038344" y="3867912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gráfico o HTML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56448" y="3648456"/>
            <a:ext cx="3602736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90448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A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8842248" y="3867912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probado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10908792" cy="548640"/>
          </a:xfrm>
          <a:prstGeom prst="roundRect">
            <a:avLst>
              <a:gd name="adj" fmla="val 26667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440680"/>
            <a:ext cx="104515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¿qué cambió en tu forma de gestionar un traslado?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2 · SLACK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2 · Repetimos el caso en Slack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 ahora es pedirle a Slackbot que haga parte del trabajo con lenguaje natural.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423160"/>
            <a:ext cx="2603754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78608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2898648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como CSV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0682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380994" y="2423160"/>
            <a:ext cx="2603754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7298" y="2578608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Slackbot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2434" y="2898648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la lista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4748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95060" y="2423160"/>
            <a:ext cx="2603754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1364" y="2578608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6500" y="2898648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Compartir la lista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98814" y="2679192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009126" y="2423160"/>
            <a:ext cx="2603754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5430" y="2578608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Superficie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00566" y="2898648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interno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" y="4178808"/>
            <a:ext cx="11036808" cy="131673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" y="4178808"/>
            <a:ext cx="11036808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443484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95528" y="5001768"/>
            <a:ext cx="10597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de prueba: #lab-traslados-mente-estrategica. Archivo: Traslados_32_para_Slackbot.csv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2 · LISTA CON 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 · Slackbot crea la lista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Usamos el mismo CSV, ahora como entrada para crear datos y estructura en Slack.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21992"/>
            <a:ext cx="6693408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505456"/>
            <a:ext cx="607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Instrucción para Slackbot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6099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«Usa este CSV como única fuente. Crea una lista con Solicitud, Origen, Destino, Prioridad, Estado, Responsable y fechas. Configura las opciones y conserva 32 registros. Vincúlala al canal de prueba y reporta qué pudiste hacer».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498080" y="2221992"/>
            <a:ext cx="414223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2221992"/>
            <a:ext cx="4142232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17536" y="247802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B · Sin permiso de 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17536" y="3044952"/>
            <a:ext cx="3703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 escritorio → Archivos → Listas → Nuevo → Importar CSV. Revisa tipos y enlaza la lista al canal.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2 · VISTAS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 · Vistas dentro de Slack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lista permite trabajar en tabla o tablero, sin exportar información.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" y="2221992"/>
            <a:ext cx="5330952" cy="226771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221992"/>
            <a:ext cx="5330952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780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estado · Tablero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044952"/>
            <a:ext cx="48920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 por Estado: Creado / Asignado / Cerrado. Cada columna representa el estado del proceso.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08192" y="2221992"/>
            <a:ext cx="5532120" cy="226771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2221992"/>
            <a:ext cx="5532120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478024"/>
            <a:ext cx="5093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Pendientes · Tabla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27648" y="3044952"/>
            <a:ext cx="50932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Estado distinto de Cerrado. Revisar Responsable y Prioridad sin crear otra fuente.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784" y="4892040"/>
            <a:ext cx="11073384" cy="667512"/>
          </a:xfrm>
          <a:prstGeom prst="roundRect">
            <a:avLst>
              <a:gd name="adj" fmla="val 21918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983480"/>
            <a:ext cx="10616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Añade la lista al canal como pestaña o comparte su enlace real.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2 ·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 · Slackbot genera un tablero interno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no es un archivo HTML externo: es una superficie interactiva dentro de Slack.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" y="2240280"/>
            <a:ext cx="6583680" cy="3310128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42032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resumido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5897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«Con la lista [enlace real], crea un dashboard con total, creadas, asignadas, cerradas, porcentaje de cierre, gráficos por estado y prioridad, filtros y detalle. No inventes datos. Verifica el total y compártelo en el canal».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88352" y="2240280"/>
            <a:ext cx="4251960" cy="3310128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88352" y="2240280"/>
            <a:ext cx="4251960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496312"/>
            <a:ext cx="3813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 de información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7808" y="3063240"/>
            <a:ext cx="3813048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superficie es estática: NO extrae cambios nuevos automáticamente. Para ver datos nuevos, pide otra versión.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2 · ACCIÓN CONTROLADA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4 · Pedir un cambio y comprobarlo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editar con IA, debemos exigir que muestre qué modificará.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5385816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67712"/>
            <a:ext cx="5385816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523744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Edición guiada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3090672"/>
            <a:ext cx="4946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a Slackbot que identifique «Sin asignar» y proponga solo cambiar TR-001 a Asignado / Equipo 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53912" y="2267712"/>
            <a:ext cx="548640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3912" y="2267712"/>
            <a:ext cx="5486400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523744"/>
            <a:ext cx="5047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73368" y="3090672"/>
            <a:ext cx="5047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Aprobar la edición si aparece, abrir el ítem, comprobar el nuevo estado y regenerar la superficie.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82528" cy="658368"/>
          </a:xfrm>
          <a:prstGeom prst="roundRect">
            <a:avLst>
              <a:gd name="adj" fmla="val 22222"/>
            </a:avLst>
          </a:prstGeom>
          <a:solidFill>
            <a:srgbClr val="FFF7E3"/>
          </a:solidFill>
          <a:ln w="10160">
            <a:solidFill>
              <a:srgbClr val="FFF7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29200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completar fechas o responsables que la IA no pueda verificar: proponer no es inventar.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Y TRANSFERENCIA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que quiero que se lleven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buena digitalización tiene fuente, estructura, visualización y acción.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194560"/>
            <a:ext cx="5358384" cy="2304288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94560"/>
            <a:ext cx="5358384" cy="68580"/>
          </a:xfrm>
          <a:prstGeom prst="rect">
            <a:avLst/>
          </a:prstGeom>
          <a:solidFill>
            <a:srgbClr val="2F64D6"/>
          </a:solidFill>
          <a:ln w="12700">
            <a:solidFill>
              <a:srgbClr val="2F6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50592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3017520"/>
            <a:ext cx="491947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como fuente → Excel puede actualizar desde SharePoint → visualización → Power Automate.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9904" y="2194560"/>
            <a:ext cx="5559552" cy="2304288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DF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2194560"/>
            <a:ext cx="5559552" cy="68580"/>
          </a:xfrm>
          <a:prstGeom prst="rect">
            <a:avLst/>
          </a:prstGeom>
          <a:solidFill>
            <a:srgbClr val="24A96B"/>
          </a:solidFill>
          <a:ln w="12700">
            <a:solidFill>
              <a:srgbClr val="24A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4505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01752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para colaboración → Slackbot genera superficie → al modificar datos, regenerar tablero.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9496" y="4974336"/>
            <a:ext cx="11128248" cy="758952"/>
          </a:xfrm>
          <a:prstGeom prst="roundRect">
            <a:avLst>
              <a:gd name="adj" fmla="val 19277"/>
            </a:avLst>
          </a:prstGeom>
          <a:solidFill>
            <a:srgbClr val="FFF0F5"/>
          </a:solidFill>
          <a:ln w="10160">
            <a:solidFill>
              <a:srgbClr val="FFF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5065776"/>
            <a:ext cx="10671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para tu área: ¿qué proceso manual podrías volver visible en 30 minutos?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73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laCardio  /  MENTE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212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E31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" y="87782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comenzar: prueba técnica del facilitador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Hazla con tu cuenta un día antes para que el laboratorio sea fluido.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6483096"/>
            <a:ext cx="11137392" cy="0"/>
          </a:xfrm>
          <a:prstGeom prst="line">
            <a:avLst/>
          </a:prstGeom>
          <a:noFill/>
          <a:ln w="12700">
            <a:solidFill>
              <a:srgbClr val="DF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65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didáctico · Datos sintéticos · Sin información de pacientes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537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2276856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1066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una lista en el SharePoint de práctica, editar columnas y usar vista de cuadrícula.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2962656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43784"/>
            <a:ext cx="1066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Exportar a Excel y comprobar «Datos → Actualizar todo».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3648456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529584"/>
            <a:ext cx="1066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flujo de correo y confirmar permisos/conector; usar solo tu correo.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" y="4334256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215384"/>
            <a:ext cx="1066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Slack, verificar listas, importación CSV, acceso a Slackbot y superficies.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9808" y="5020056"/>
            <a:ext cx="96012" cy="96012"/>
          </a:xfrm>
          <a:prstGeom prst="ellipse">
            <a:avLst/>
          </a:prstGeom>
          <a:solidFill>
            <a:srgbClr val="E31952"/>
          </a:solidFill>
          <a:ln w="12700">
            <a:solidFill>
              <a:srgbClr val="E319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901184"/>
            <a:ext cx="1066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Prompt 1–5; tener los CSV y XLSX disponibles para los equipos.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5852160"/>
            <a:ext cx="10991088" cy="475488"/>
          </a:xfrm>
          <a:prstGeom prst="roundRect">
            <a:avLst>
              <a:gd name="adj" fmla="val 30769"/>
            </a:avLst>
          </a:prstGeom>
          <a:solidFill>
            <a:srgbClr val="EBF1FD"/>
          </a:solidFill>
          <a:ln w="10160">
            <a:solidFill>
              <a:srgbClr val="EBF1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43600"/>
            <a:ext cx="10533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permiso falla, demuestra el paso en tu cuenta. El objetivo es comprender el flujo completo.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Mente Estratégica | Laboratorios prácticos guiados</dc:title>
  <dc:subject>Guía práctica Microsoft Lists, Excel, Power Automate y Slackbot</dc:subject>
  <dc:creator>Equipo Mente Estratégica</dc:creator>
  <cp:lastModifiedBy>Equipo Mente Estratégica</cp:lastModifiedBy>
  <cp:revision>1</cp:revision>
  <dcterms:created xsi:type="dcterms:W3CDTF">2026-10-22T16:10:03Z</dcterms:created>
  <dcterms:modified xsi:type="dcterms:W3CDTF">2026-10-22T16:10:03Z</dcterms:modified>
</cp:coreProperties>
</file>